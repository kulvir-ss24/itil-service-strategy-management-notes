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7559675" cy="106918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64CDDA-06EE-48F0-9921-8954C068B3DE}">
  <a:tblStyle styleId="{DB64CDDA-06EE-48F0-9921-8954C068B3D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lay-bold.fntdata"/><Relationship Id="rId14" Type="http://schemas.openxmlformats.org/officeDocument/2006/relationships/slide" Target="slides/slide9.xml"/><Relationship Id="rId36" Type="http://schemas.openxmlformats.org/officeDocument/2006/relationships/font" Target="fonts/Play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31800" lvl="0" marL="457200" marR="0" rtl="0" algn="l"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7180" lvl="2" marL="1371600" marR="0" rtl="0" algn="l"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9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9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1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431800" lvl="0" marL="457200" marR="0" rtl="0" algn="l"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marR="0" rtl="0" algn="l"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004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004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004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12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8778240" y="1280160"/>
            <a:ext cx="1188360" cy="1188360"/>
          </a:xfrm>
          <a:prstGeom prst="ellipse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9875520" y="2103120"/>
            <a:ext cx="731160" cy="731160"/>
          </a:xfrm>
          <a:prstGeom prst="ellipse">
            <a:avLst/>
          </a:prstGeom>
          <a:solidFill>
            <a:srgbClr val="EEB0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8138160" y="2743200"/>
            <a:ext cx="548280" cy="548280"/>
          </a:xfrm>
          <a:prstGeom prst="ellipse">
            <a:avLst/>
          </a:prstGeom>
          <a:solidFill>
            <a:srgbClr val="2369A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10424160" y="3657600"/>
            <a:ext cx="1096920" cy="1096920"/>
          </a:xfrm>
          <a:prstGeom prst="ellipse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31520" y="1234440"/>
            <a:ext cx="777204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ITIL SERVICE STRATEGY</a:t>
            </a:r>
            <a:endParaRPr b="0" sz="3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A0DCDC"/>
                </a:solidFill>
                <a:latin typeface="Arial"/>
                <a:ea typeface="Arial"/>
                <a:cs typeface="Arial"/>
                <a:sym typeface="Arial"/>
              </a:rPr>
              <a:t>Detailed Teaching Presentation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Infrastructure &amp; Management  |  PG-DITISS / CDAC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77240" y="5257800"/>
            <a:ext cx="804636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Strategy • Market Space • Provider Types • Finance • Portfolio • Demand • Roles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Learning Objectives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Explain the purpose of Service Strategy in IT service management.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Describe competition, market space, and customer value propositions.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Compare Type I, Type II, and Type III service providers.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Explain service management as a strategic asset.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Summarize key Service Strategy processes.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Discuss financial management, service portfolio management, demand management, and staff roles.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1. General Strategy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 Strategy defines how IT services support business objectives and customer outcomes.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Key questions: What services should we offer? Who are our customers? How will we create value?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Align service decisions with business goals, customer expectations, resources, cost, and risk.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Example: A college plans LMS, Wi-Fi, online examinations, email, and student information services.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Key Elements of Service Strategy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Business objectives — what the organization wants to achieve.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Customer identification — who uses or benefits from the service.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 definition — which services should be offered.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Value creation — how services help customers achieve outcomes.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Resource and financial planning — people, technology, budget, and skills.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Risk management and performance measurement — manage threats and track service quality.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2. Competition and Market Space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Competition occurs when providers offer services that meet similar customer needs.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Providers compete through price, quality, reliability, security, support, innovation, and speed.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Market space is the business context in which a provider targets customers and meets their needs.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Example market spaces: small-business IT support, banking SOC services, cloud hosting, and education platforms.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Market Space: What to Analyze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Customer needs and expected outcomes.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Market demand and potential customer groups.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Competitors and their differentiators.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Technology trends and service delivery options.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Regulatory, security, and compliance requirements.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Pricing, expected revenue, risks, and service quality.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Value Proposition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A value proposition explains why customers should choose a particular service.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Focus on customer outcomes rather than only technology features.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Example: A managed SOC helps detect threats, monitor activity, and coordinate incident response.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 value depends on useful functionality and dependable delivery.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3. Service Provider Types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Type I — Internal Service Provider: serves one business unit or organizational unit.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Type II — Shared Services Unit: provides common services to multiple internal business units.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Type III — External Service Provider: provides services to external customers.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Organizations may use a combination of provider types.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Provider Types: Examples &amp; Trade-offs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Type I example: a university IT team serving one faculty or business unit.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Type II example: a centralized IT department supporting finance, HR, sales, and operations.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Type III example: a commercial cloud provider or managed cybersecurity company.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Internal/shared models offer organizational control; external models offer specialist expertise but create supplier dependencies.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4. Service Management as a Strategic Asset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 management combines organizational resources and capabilities to deliver value.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Resources: infrastructure, software, data, facilities, and financial resources.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Capabilities: technical expertise, processes, incident handling, supplier management, and customer relationships.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Strong capabilities can improve efficiency, differentiation, decision-making, risk management, and customer satisfaction.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Service Utility and Service Warranty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Utility = fit for purpose: what the service does and how it supports customer outcomes.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Warranty = fit for use: whether the service is available, reliable, secure, and has sufficient capacity.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Example utility: a backup service can restore lost files.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Example warranty: files can be restored securely within the agreed recovery time.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Services create value when their utility and warranty meet customer needs.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5. Key Service Strategy Processes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Strategy Management for IT Services — establish and maintain the service strategy.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 Portfolio Management — manage proposed, live/available, and retired services.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Financial Management for IT Services — understand and manage service costs and finances.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Demand Management — understand and influence customer demand.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Business Relationship Management — maintain customer relationships and understand business needs.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Strategy Management for IT Services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Assess current capabilities and business objectives.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Understand customer needs, market opportunities, and competitors.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Evaluate resources, skills, investments, and risks.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Define service priorities and strategic direction.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Monitor results and review the strategy as business needs change.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6. Financial Management: Purpose &amp; Activities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6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Ensures that service costs and financial resources are understood and managed.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Budgeting — estimate future costs and allocate funds.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Accounting — record and categorize costs by service or resource.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Charging — recover costs from users or business units where applicable.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Supports cost control, forecasting, investment decisions, and financial transparency.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IT Cost Types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Fixed costs — relatively stable within a relevant range, e.g., annual licence.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Variable costs — change with usage, e.g., pay-per-use cloud consumption.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Direct costs — attributable to a particular service, e.g., a dedicated server.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Indirect costs — shared across services, e.g., common administration.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CapEx — investment in long-term assets; OpEx — ongoing service operating costs.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8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Financial Decision: Data Centre vs Cloud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8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8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On-premises infrastructure often requires higher initial investment and direct maintenance.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Cloud services may reduce initial investment and offer flexible scaling.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Compare total cost of ownership, usage patterns, security, compliance, availability, and support.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Cloud is not automatically cheaper: variable usage, data transfer, and subscription costs matter.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7. Service Portfolio Management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Manages the full collection of services proposed, offered, or retired by a provider.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Ensures investment is aligned with business value, customer needs, cost, and risk.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Typical activities: evaluate proposals, approve or defer services, monitor existing services, improve or retire services.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Helps avoid duplication and makes service offerings visible to decision-makers.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0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Service Portfolio: Three Components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0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0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 Pipeline — proposed or developing services not yet available for live use.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 Catalogue — information about services available to customers or users.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Retired Services — services no longer offered.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Example: proposed AI attendance system (pipeline); current Wi-Fi (catalogue); discontinued legacy app (retired).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0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1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8. Demand Management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1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Understands and influences customer demand for IT services.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Balances demand with resources to avoid overprovisioning or underprovisioning.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Forecasts usage, identifies peak periods, and supports capacity planning.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Example: increase LMS capacity during admissions and online examinations.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1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2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PBA and User Profiles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2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2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2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2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Pattern of Business Activity (PBA): recurring business activity that influences service demand.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Examples: examination periods, retail sales events, monthly payroll, and banking payment peaks.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User Profile (UP): typical service usage patterns of a user group.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Examples: students use LMS and Wi-Fi; faculty use teaching platforms; administrators use student and finance systems.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2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Demand Management Techniques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3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3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Forecasting: use historical usage and business plans to predict demand.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Scheduling: move non-urgent work to low-demand periods.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Resource optimization: reduce waste and improve utilization.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Usage-based pricing: influence consumption where suitable.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Cloud auto-scaling: add or remove resources as workload changes, within configured limits.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4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9. Key Roles: Service &amp; Business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4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4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4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4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Business Relationship Manager — understands customer needs and maintains relationships.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 Owner — accountable for a specific service and its performance throughout its lifecycle.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 Manager — coordinates service delivery, risks, performance, and improvement.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 Portfolio Manager — maintains portfolio visibility and supports service investment decisions.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5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Key Roles: Finance, Demand &amp; Capacity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5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5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5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5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Financial Manager — budgets, tracks costs, forecasts, and supports investment decisions.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Demand Manager — analyzes usage patterns and forecasts demand.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Capacity Manager — ensures sufficient infrastructure capacity and identifies bottlenecks.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These roles collaborate to balance service quality, performance, cost, and demand.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5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6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Key Roles: Service Desk, Incident &amp; Problem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6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6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6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6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 Desk Manager — coordinates user support and service desk performance.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Incident Manager — coordinates response and restores normal service as quickly as possible.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Problem Manager — investigates underlying causes and reduces recurrence.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Incident example: restore a failed server; problem example: identify why it repeatedly fails.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6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7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Process Owner vs Process Manager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7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7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7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7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Process Owner is accountable for the overall process design, objectives, and effectiveness.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Process Manager coordinates day-to-day execution and monitors operational performance.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One person may hold both roles in a smaller organization.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Clear ownership improves accountability, consistency, and continual improvement.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7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8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8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10. Integrated Case Study: College IT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8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8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8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8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Goal: modernize LMS, student information, campus Wi-Fi, attendance, and security monitoring.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Strategy: align services with learning and administrative objectives.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Providers: internal IT support, shared identity/network services, external cloud hosting.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Finance: compare on-premises and cloud costs; maintain a budget.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Portfolio: retain email and Wi-Fi, develop attendance system, retire legacy application after migration.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Demand: plan extra capacity during admissions and examinations.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8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9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Case Study: Roles &amp; Outcomes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9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9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9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9"/>
          <p:cNvSpPr/>
          <p:nvPr/>
        </p:nvSpPr>
        <p:spPr>
          <a:xfrm>
            <a:off x="685800" y="1143000"/>
            <a:ext cx="10835280" cy="521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109800" spcFirstLastPara="1" rIns="109800" wrap="square" tIns="73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BRM gathers requirements; Service Owner oversees the LMS.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Financial Manager monitors the budget; Demand Manager forecasts peaks.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Capacity Manager plans server and network capacity.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Service Desk Manager coordinates support; Incident Manager handles outages; Problem Manager investigates recurrence.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83442"/>
                </a:solidFill>
                <a:latin typeface="Arial"/>
                <a:ea typeface="Arial"/>
                <a:cs typeface="Arial"/>
                <a:sym typeface="Arial"/>
              </a:rPr>
              <a:t>Outcome: better alignment, controlled costs, more reliable services, and improved user experience.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9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0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Service Provider Types: Comparison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0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0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0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3" name="Google Shape;383;p40"/>
          <p:cNvGraphicFramePr/>
          <p:nvPr/>
        </p:nvGraphicFramePr>
        <p:xfrm>
          <a:off x="502920" y="1078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{DB64CDDA-06EE-48F0-9921-8954C068B3DE}</a:tableStyleId>
              </a:tblPr>
              <a:tblGrid>
                <a:gridCol w="1828800"/>
                <a:gridCol w="2926075"/>
                <a:gridCol w="3108950"/>
                <a:gridCol w="3291850"/>
              </a:tblGrid>
              <a:tr h="89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6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I: Internal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6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II: Shared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6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III: External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69AA"/>
                    </a:solidFill>
                  </a:tcPr>
                </a:tc>
              </a:tr>
              <a:tr h="89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One business unit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Multiple internal units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customers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9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Ownership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organization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organization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provider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</a:tr>
              <a:tr h="89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 objective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Meet specific internal needs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Share common resources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Deliver external services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9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model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budget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Allocated/shared costs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Contract or subscription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</a:tr>
              <a:tr h="89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Department IT team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Central corporate IT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Cloud/SOC provider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4" name="Google Shape;384;p40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1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Utility vs Warranty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1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1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1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4" name="Google Shape;394;p41"/>
          <p:cNvGraphicFramePr/>
          <p:nvPr/>
        </p:nvGraphicFramePr>
        <p:xfrm>
          <a:off x="502920" y="1078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{DB64CDDA-06EE-48F0-9921-8954C068B3DE}</a:tableStyleId>
              </a:tblPr>
              <a:tblGrid>
                <a:gridCol w="1554475"/>
                <a:gridCol w="2286000"/>
                <a:gridCol w="3108950"/>
                <a:gridCol w="4206250"/>
              </a:tblGrid>
              <a:tr h="178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Concept</a:t>
                      </a:r>
                      <a:endParaRPr b="0"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6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Meaning</a:t>
                      </a:r>
                      <a:endParaRPr b="0"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6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Question</a:t>
                      </a:r>
                      <a:endParaRPr b="0"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6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</a:t>
                      </a:r>
                      <a:endParaRPr b="0"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69AA"/>
                    </a:solidFill>
                  </a:tcPr>
                </a:tc>
              </a:tr>
              <a:tr h="178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Utility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Fit for purpose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Does it do what is needed?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Backup can restore files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8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Warranty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Fit for use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 it available and dependable?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Restore within agreed time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</a:tr>
            </a:tbl>
          </a:graphicData>
        </a:graphic>
      </p:graphicFrame>
      <p:sp>
        <p:nvSpPr>
          <p:cNvPr id="395" name="Google Shape;395;p41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6F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2"/>
          <p:cNvSpPr/>
          <p:nvPr/>
        </p:nvSpPr>
        <p:spPr>
          <a:xfrm>
            <a:off x="0" y="0"/>
            <a:ext cx="12191400" cy="71280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Financial Management: Example Budget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2"/>
          <p:cNvSpPr/>
          <p:nvPr/>
        </p:nvSpPr>
        <p:spPr>
          <a:xfrm>
            <a:off x="0" y="713160"/>
            <a:ext cx="12191400" cy="54360"/>
          </a:xfrm>
          <a:prstGeom prst="rect">
            <a:avLst/>
          </a:prstGeom>
          <a:solidFill>
            <a:srgbClr val="14969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2"/>
          <p:cNvSpPr/>
          <p:nvPr/>
        </p:nvSpPr>
        <p:spPr>
          <a:xfrm>
            <a:off x="0" y="6656760"/>
            <a:ext cx="12191400" cy="200880"/>
          </a:xfrm>
          <a:prstGeom prst="rect">
            <a:avLst/>
          </a:prstGeom>
          <a:solidFill>
            <a:srgbClr val="122340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2"/>
          <p:cNvSpPr/>
          <p:nvPr/>
        </p:nvSpPr>
        <p:spPr>
          <a:xfrm>
            <a:off x="320040" y="6666120"/>
            <a:ext cx="114296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ITIL SERVICE STRATEGY  •  PG-DITISS / IT INFRASTRUCTURE &amp; MANAGEMENT</a:t>
            </a:r>
            <a:endParaRPr b="0" sz="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5" name="Google Shape;405;p42"/>
          <p:cNvGraphicFramePr/>
          <p:nvPr/>
        </p:nvGraphicFramePr>
        <p:xfrm>
          <a:off x="502920" y="1078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{DB64CDDA-06EE-48F0-9921-8954C068B3DE}</a:tableStyleId>
              </a:tblPr>
              <a:tblGrid>
                <a:gridCol w="6400800"/>
                <a:gridCol w="4754875"/>
              </a:tblGrid>
              <a:tr h="76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Expense</a:t>
                      </a:r>
                      <a:endParaRPr b="0"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69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Estimated Annual Cost</a:t>
                      </a:r>
                      <a:endParaRPr b="0"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69AA"/>
                    </a:solidFill>
                  </a:tcPr>
                </a:tc>
              </a:tr>
              <a:tr h="76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Servers and infrastructure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₹5,00,000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Software licences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₹2,00,000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</a:tr>
              <a:tr h="76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and internet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₹1,20,000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 tools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₹1,50,000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</a:tr>
              <a:tr h="76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Maintenance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₹80,000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28344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₹10,50,000</a:t>
                      </a:r>
                      <a:endParaRPr b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5"/>
                    </a:solidFill>
                  </a:tcPr>
                </a:tc>
              </a:tr>
            </a:tbl>
          </a:graphicData>
        </a:graphic>
      </p:graphicFrame>
      <p:sp>
        <p:nvSpPr>
          <p:cNvPr id="406" name="Google Shape;406;p42"/>
          <p:cNvSpPr/>
          <p:nvPr/>
        </p:nvSpPr>
        <p:spPr>
          <a:xfrm>
            <a:off x="11384280" y="641916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2369AA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